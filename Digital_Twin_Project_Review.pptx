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098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-731520"/>
            <a:ext cx="2926080" cy="29260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Digital Twin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Simulation Framework for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ML-Optimized Industrial Gateways (Modbus/GSM/4G)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2004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IoT  •  Digital Twin  •  Machine Learning  •  Network Simulation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029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This project develops a software-defined Predictive Digital Twin framework for industrial communication gateways. The system simulates end-to-end Modbus RTU/TCP communication over Ethernet and cellular networks (GSM/4G) in a fully virtualized environment.</a:t>
            </a:r>
          </a:p>
          <a:p>
            <a:r>
              <a:rPr lang="en-US" sz="1200" dirty="0"/>
              <a:t>The framework models real-world network impairments such as latency, jitter, and packet loss, and uses machine learning to predict optimal gateway parameters like polling rate and buffer size to improve communication reliability.</a:t>
            </a:r>
          </a:p>
          <a:p>
            <a:r>
              <a:rPr lang="en-US" sz="1200" dirty="0"/>
              <a:t>The entire system is implemented as a software simulation environment without requiring physical PLC hardware.</a:t>
            </a:r>
          </a:p>
        </p:txBody>
      </p:sp>
      <p:sp>
        <p:nvSpPr>
          <p:cNvPr id="8" name="Shape 6"/>
          <p:cNvSpPr/>
          <p:nvPr/>
        </p:nvSpPr>
        <p:spPr>
          <a:xfrm>
            <a:off x="5577840" y="1143000"/>
            <a:ext cx="324612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143000"/>
            <a:ext cx="73152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742432" y="11978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Emulation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42432" y="14904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Virtualized PLC nodes &amp; gateway logic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039112"/>
            <a:ext cx="3246120" cy="804672"/>
          </a:xfrm>
          <a:prstGeom prst="rect">
            <a:avLst/>
          </a:prstGeom>
          <a:solidFill>
            <a:srgbClr val="1A3A6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039112"/>
            <a:ext cx="73152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742432" y="20939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42432" y="23865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4G/GSM link impairments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935224"/>
            <a:ext cx="324612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935224"/>
            <a:ext cx="73152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742432" y="29900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Optimization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42432" y="32826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for gateway tuning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3831336"/>
            <a:ext cx="3246120" cy="804672"/>
          </a:xfrm>
          <a:prstGeom prst="rect">
            <a:avLst/>
          </a:prstGeom>
          <a:solidFill>
            <a:srgbClr val="1A3A6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3831336"/>
            <a:ext cx="73152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742432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42432" y="4178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visualization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 (5 Marks)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64008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527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solidFill>
                  <a:schemeClr val="accent1"/>
                </a:solidFill>
              </a:rPr>
              <a:t>Industrial Communication Gap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Legacy Modbus RTU/TCP systems lack native support for modern cellular networks (GSM/4G), creating integration and reliability challenges in industrial IoT deployments.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64008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12527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solidFill>
                  <a:schemeClr val="accent1"/>
                </a:solidFill>
              </a:rPr>
              <a:t>Hardware Testing Cost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10912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Gateway testing using physical PLCs, routers, and network equipment is expensive and time-consuming. A virtualized simulation framework reduces cost and development time.</a:t>
            </a:r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71800"/>
            <a:ext cx="64008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accent1"/>
                </a:solidFill>
              </a:rPr>
              <a:t>Need for Adaptive Gateway Configuration</a:t>
            </a:r>
          </a:p>
        </p:txBody>
      </p:sp>
      <p:sp>
        <p:nvSpPr>
          <p:cNvPr id="16" name="Text 14"/>
          <p:cNvSpPr/>
          <p:nvPr/>
        </p:nvSpPr>
        <p:spPr>
          <a:xfrm>
            <a:off x="438912" y="34290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Static polling configurations fail under variable network conditions such as latency and packet loss. Machine learning models can dynamically tune gateway parameters for reliable communication.</a:t>
            </a:r>
          </a:p>
        </p:txBody>
      </p:sp>
      <p:sp>
        <p:nvSpPr>
          <p:cNvPr id="17" name="Shape 15"/>
          <p:cNvSpPr/>
          <p:nvPr/>
        </p:nvSpPr>
        <p:spPr>
          <a:xfrm>
            <a:off x="4846320" y="297180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971800"/>
            <a:ext cx="64008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accent1"/>
                </a:solidFill>
              </a:rPr>
              <a:t>Need for Network Performance Visibility</a:t>
            </a:r>
          </a:p>
        </p:txBody>
      </p:sp>
      <p:sp>
        <p:nvSpPr>
          <p:cNvPr id="20" name="Text 18"/>
          <p:cNvSpPr/>
          <p:nvPr/>
        </p:nvSpPr>
        <p:spPr>
          <a:xfrm>
            <a:off x="5010912" y="34290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Industrial operators require real-time monitoring of communication metrics such as latency, jitter, throughput, and packet loss to ensure system reliability and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 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6675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71016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710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 Modbus RTU/TCP protocol stack using virtualized PLC nodes and central gateway logic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8595360" cy="667512"/>
          </a:xfrm>
          <a:prstGeom prst="rect">
            <a:avLst/>
          </a:prstGeom>
          <a:solidFill>
            <a:srgbClr val="D6EAF8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29968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29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19933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realistic 4G/GSM network impairments (latency, jitter, packet loss) using Linux Traffic Control (tc)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60904"/>
            <a:ext cx="8595360" cy="6675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8892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75234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ML models (Scikit-learn / TensorFlow) to forecast network quality and tune gateway parameters adaptively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67512"/>
          </a:xfrm>
          <a:prstGeom prst="rect">
            <a:avLst/>
          </a:prstGeom>
          <a:solidFill>
            <a:srgbClr val="D6EAF8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47872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547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51129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FastAPI backend to stream real-time telemetry and expose RESTful APIs for simulation metrics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178808"/>
            <a:ext cx="8595360" cy="6675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306824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306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427024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React.js (Vite) dashboard with WebSocket/MQTT for live performance monitoring and ML accuracy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Survey  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828800" cy="8412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234440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RTU is serial-only; bridging to TCP/IP and cellular requires complex multi-layer translation not supported natively.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859536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03120"/>
            <a:ext cx="1828800" cy="841248"/>
          </a:xfrm>
          <a:prstGeom prst="rect">
            <a:avLst/>
          </a:prstGeom>
          <a:solidFill>
            <a:srgbClr val="1A3A6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14884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2194560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simulators fail to replicate real-world 4G/GSM link behavior including dynamic jitter and burst packet loss patterns.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859536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63240"/>
            <a:ext cx="1828800" cy="8412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10896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Gateway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3154680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gateways use fixed polling intervals which perform poorly under variable network quality, increasing latency and failure rates.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023360"/>
            <a:ext cx="859536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4023360"/>
            <a:ext cx="1828800" cy="841248"/>
          </a:xfrm>
          <a:prstGeom prst="rect">
            <a:avLst/>
          </a:prstGeom>
          <a:solidFill>
            <a:srgbClr val="1A3A6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406908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4114800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standardized, open-source dashboard exists for monitoring Modbus-over-cellular communication quality in real time.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Gained on the Topic 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87822" y="1103149"/>
            <a:ext cx="420624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177938" y="1097280"/>
            <a:ext cx="420624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1. Modbus &amp; Industrial Communication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46320" y="1061053"/>
            <a:ext cx="420624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4206240" cy="384048"/>
          </a:xfrm>
          <a:prstGeom prst="rect">
            <a:avLst/>
          </a:prstGeom>
          <a:solidFill>
            <a:srgbClr val="0066A2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2. Network Impairments &amp; Cellular Communication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38396" y="3072384"/>
            <a:ext cx="420624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8396" y="3059657"/>
            <a:ext cx="4206240" cy="384048"/>
          </a:xfrm>
          <a:prstGeom prst="rect">
            <a:avLst/>
          </a:prstGeom>
          <a:solidFill>
            <a:srgbClr val="054A91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07238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Digital Twin Simulation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3035808"/>
            <a:ext cx="420624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035808"/>
            <a:ext cx="4206240" cy="384048"/>
          </a:xfrm>
          <a:prstGeom prst="rect">
            <a:avLst/>
          </a:prstGeom>
          <a:solidFill>
            <a:srgbClr val="023E73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07238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Machine Learning Optimization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660D1B2B-0F70-8B53-C1C7-498AE99E4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88" y="1396335"/>
            <a:ext cx="3765104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Modbus RTU vs Modbus TCP communication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Master–Slave polling mechanism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 structure and register addressing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 conversion (Serial → TCP → Cellular) </a:t>
            </a:r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C468361B-AC31-5E92-361F-82EA8B002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480" y="1405447"/>
            <a:ext cx="39825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Latency, jitter, packet loss modeling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GSM/4G network behavior and link variability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 of network conditions on polling-based protocols </a:t>
            </a: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77FF3DF9-7A80-0C5E-7357-7D0DEEE65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32" y="3423642"/>
            <a:ext cx="375626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 device and gateway emulation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 of real-world network conditions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analysis using simulation environments 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1D8D5BA1-CADA-5437-46DF-F5F699CAB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875" y="3432144"/>
            <a:ext cx="4022125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telemetry data 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quality prediction using ML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tuning of gateway polling parameters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 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463040" cy="685800"/>
          </a:xfrm>
          <a:prstGeom prst="rect">
            <a:avLst/>
          </a:prstGeom>
          <a:solidFill>
            <a:srgbClr val="22C55E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520" y="11521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PLC &amp; Gateway Setup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4447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stack with isolated Modbus RTU/TCP nodes deployed and operational.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29400" y="1298448"/>
            <a:ext cx="201168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1298448"/>
            <a:ext cx="2011680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4996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874520"/>
            <a:ext cx="1463040" cy="685800"/>
          </a:xfrm>
          <a:prstGeom prst="rect">
            <a:avLst/>
          </a:prstGeom>
          <a:solidFill>
            <a:srgbClr val="22C55E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965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74520" y="19293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Impairment Emulation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2221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tc rules for latency (50-200ms), jitter (±30ms), and packet loss (1-5%) configured.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2075688"/>
            <a:ext cx="201168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629400" y="2075688"/>
            <a:ext cx="2011680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768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651760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651760"/>
            <a:ext cx="1463040" cy="685800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743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74520" y="27066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Model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4520" y="29992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 collected from emulation. Scikit-learn regression model under training.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2852928"/>
            <a:ext cx="201168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6629400" y="2852928"/>
            <a:ext cx="1307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30540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429000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429000"/>
            <a:ext cx="1463040" cy="685800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520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74520" y="34838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74520" y="3776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for telemetry exposed. WebSocket streaming under integration testing.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3630168"/>
            <a:ext cx="201168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6629400" y="3630168"/>
            <a:ext cx="1408176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38313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206240"/>
            <a:ext cx="1463040" cy="685800"/>
          </a:xfrm>
          <a:prstGeom prst="rect">
            <a:avLst/>
          </a:prstGeom>
          <a:solidFill>
            <a:srgbClr val="94A3B8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2976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74520" y="42611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87452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wireframes finalized. Component development begins after backend API stabilization.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29400" y="4407408"/>
            <a:ext cx="201168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9400" y="4407408"/>
            <a:ext cx="402336" cy="1645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460857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6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43200" cy="1719072"/>
          </a:xfrm>
          <a:prstGeom prst="rect">
            <a:avLst/>
          </a:prstGeom>
          <a:solidFill>
            <a:srgbClr val="1A3A6C">
              <a:alpha val="80000"/>
            </a:srgbClr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27432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521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Virtualization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27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500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15568"/>
            <a:ext cx="2743200" cy="1719072"/>
          </a:xfrm>
          <a:prstGeom prst="rect">
            <a:avLst/>
          </a:prstGeom>
          <a:solidFill>
            <a:srgbClr val="1A3A6C">
              <a:alpha val="80000"/>
            </a:srgbClr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15568"/>
            <a:ext cx="27432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1521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Emulation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527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RTU/TCP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938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Pymodbus Library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3500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PLC Nodes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115568"/>
            <a:ext cx="2743200" cy="1719072"/>
          </a:xfrm>
          <a:prstGeom prst="rect">
            <a:avLst/>
          </a:prstGeom>
          <a:solidFill>
            <a:srgbClr val="1A3A6C">
              <a:alpha val="80000"/>
            </a:srgbClr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115568"/>
            <a:ext cx="27432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1521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Simulation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527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1938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4G/GSM Impairments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3500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&amp; Packet Loss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035808"/>
            <a:ext cx="2743200" cy="1719072"/>
          </a:xfrm>
          <a:prstGeom prst="rect">
            <a:avLst/>
          </a:prstGeom>
          <a:solidFill>
            <a:srgbClr val="1A3A6C">
              <a:alpha val="80000"/>
            </a:srgbClr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035808"/>
            <a:ext cx="27432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0723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4472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2702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3035808"/>
            <a:ext cx="2743200" cy="1719072"/>
          </a:xfrm>
          <a:prstGeom prst="rect">
            <a:avLst/>
          </a:prstGeom>
          <a:solidFill>
            <a:srgbClr val="1A3A6C">
              <a:alpha val="80000"/>
            </a:srgbClr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3035808"/>
            <a:ext cx="27432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30723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34472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42702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/ MQTT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035808"/>
            <a:ext cx="2743200" cy="1719072"/>
          </a:xfrm>
          <a:prstGeom prst="rect">
            <a:avLst/>
          </a:prstGeom>
          <a:solidFill>
            <a:srgbClr val="1A3A6C">
              <a:alpha val="80000"/>
            </a:srgbClr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035808"/>
            <a:ext cx="27432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0723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34472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(Vite)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42702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Charts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81913" y="63163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CDE98383-71DC-3E8B-50D8-E3504467AC2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07772" y="1129724"/>
            <a:ext cx="8414951" cy="3382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project proposes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Predictive Digital Twin framework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industrial Modbus gateways operating over GSM/4G networks.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system simulates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Modbus communication, protocol conversion, and cellular network impairments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 a fully virtual environment.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Machine Learning models are used to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predict network quality and optimize gateway parameters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such as polling rate and buffer size.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system includes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real-time analytics dashboard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monitoring communication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framework helps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reduce hardware testing cost, improve reliability, and optimize industrial IoT gateway performance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Future work includes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ML model improvement, full system integration, and performance evaluation under different network conditions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853</Words>
  <Application>Microsoft Office PowerPoint</Application>
  <PresentationFormat>On-screen Show (16:9)</PresentationFormat>
  <Paragraphs>146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Digital Twin - Project Reviews</dc:title>
  <dc:subject>PptxGenJS Presentation</dc:subject>
  <dc:creator>PptxGenJS</dc:creator>
  <cp:lastModifiedBy>KARANAM BHAVYA KEERTHI</cp:lastModifiedBy>
  <cp:revision>2</cp:revision>
  <dcterms:created xsi:type="dcterms:W3CDTF">2026-03-27T13:45:03Z</dcterms:created>
  <dcterms:modified xsi:type="dcterms:W3CDTF">2026-03-27T14:34:45Z</dcterms:modified>
</cp:coreProperties>
</file>